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ea90312bb94cbc" /><Relationship Type="http://schemas.openxmlformats.org/officeDocument/2006/relationships/extended-properties" Target="/docProps/app.xml" Id="Rbb37eb8971f34916" /><Relationship Type="http://schemas.openxmlformats.org/officeDocument/2006/relationships/officeDocument" Target="/ppt/presentation.xml" Id="Rf22386b5d1cf4261" /></Relationships>
</file>

<file path=ppt/presentation.xml><?xml version="1.0" encoding="utf-8"?>
<p:presentation xmlns:p="http://schemas.openxmlformats.org/presentationml/2006/main">
  <p:sldMasterIdLst>
    <p:sldMasterId xmlns:r="http://schemas.openxmlformats.org/officeDocument/2006/relationships" id="2147483648" r:id="Rb195ee4a24cc4371"/>
  </p:sldMasterIdLst>
  <p:notesMasterIdLst>
    <p:notesMasterId xmlns:r="http://schemas.openxmlformats.org/officeDocument/2006/relationships" r:id="R906993bcca5043aa"/>
  </p:notesMasterIdLst>
  <p:sldIdLst>
    <p:sldId xmlns:r="http://schemas.openxmlformats.org/officeDocument/2006/relationships" id="256" r:id="R1888a3e4e1864633"/>
    <p:sldId xmlns:r="http://schemas.openxmlformats.org/officeDocument/2006/relationships" id="257" r:id="R5b7d01357a824018"/>
    <p:sldId xmlns:r="http://schemas.openxmlformats.org/officeDocument/2006/relationships" id="258" r:id="R48de5db0694f47a7"/>
    <p:sldId xmlns:r="http://schemas.openxmlformats.org/officeDocument/2006/relationships" id="259" r:id="R52ac4ac6771b4c05"/>
    <p:sldId xmlns:r="http://schemas.openxmlformats.org/officeDocument/2006/relationships" id="260" r:id="R9a692742e24a40c1"/>
    <p:sldId xmlns:r="http://schemas.openxmlformats.org/officeDocument/2006/relationships" id="261" r:id="R82de58170ce14a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9f1158842945c5" /><Relationship Type="http://schemas.openxmlformats.org/officeDocument/2006/relationships/slideMaster" Target="/ppt/slideMasters/slideMaster1.xml" Id="Rb195ee4a24cc4371" /><Relationship Type="http://schemas.openxmlformats.org/officeDocument/2006/relationships/notesMaster" Target="/ppt/notesMasters/notesMaster1.xml" Id="R906993bcca5043aa" /><Relationship Type="http://schemas.openxmlformats.org/officeDocument/2006/relationships/presProps" Target="/ppt/presProps.xml" Id="R9c5623a001a84a27" /><Relationship Type="http://schemas.openxmlformats.org/officeDocument/2006/relationships/tableStyles" Target="/ppt/tableStyles.xml" Id="Rb8227bcb2df646b2" /><Relationship Type="http://schemas.openxmlformats.org/officeDocument/2006/relationships/slide" Target="/ppt/slides/slide1.xml" Id="R1888a3e4e1864633" /><Relationship Type="http://schemas.openxmlformats.org/officeDocument/2006/relationships/slide" Target="/ppt/slides/slide2.xml" Id="R5b7d01357a824018" /><Relationship Type="http://schemas.openxmlformats.org/officeDocument/2006/relationships/slide" Target="/ppt/slides/slide3.xml" Id="R48de5db0694f47a7" /><Relationship Type="http://schemas.openxmlformats.org/officeDocument/2006/relationships/slide" Target="/ppt/slides/slide4.xml" Id="R52ac4ac6771b4c05" /><Relationship Type="http://schemas.openxmlformats.org/officeDocument/2006/relationships/slide" Target="/ppt/slides/slide5.xml" Id="R9a692742e24a40c1" /><Relationship Type="http://schemas.openxmlformats.org/officeDocument/2006/relationships/slide" Target="/ppt/slides/slide6.xml" Id="R82de58170ce14a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c3f17ae71043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56ccc50f07447d" /><Relationship Type="http://schemas.openxmlformats.org/officeDocument/2006/relationships/notesMaster" Target="/ppt/notesMasters/notesMaster1.xml" Id="Rd1bc485ab2a648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91d6321cac4c9a" /><Relationship Type="http://schemas.openxmlformats.org/officeDocument/2006/relationships/notesMaster" Target="/ppt/notesMasters/notesMaster1.xml" Id="Re3e419d77fc047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2419720cc94908" /><Relationship Type="http://schemas.openxmlformats.org/officeDocument/2006/relationships/notesMaster" Target="/ppt/notesMasters/notesMaster1.xml" Id="R32034e7498a945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186862d3e14491" /><Relationship Type="http://schemas.openxmlformats.org/officeDocument/2006/relationships/notesMaster" Target="/ppt/notesMasters/notesMaster1.xml" Id="R31d33f029c324f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17082b8d93450e" /><Relationship Type="http://schemas.openxmlformats.org/officeDocument/2006/relationships/notesMaster" Target="/ppt/notesMasters/notesMaster1.xml" Id="Rcc7a787edd5f4d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5079fe04eb401c" /><Relationship Type="http://schemas.openxmlformats.org/officeDocument/2006/relationships/notesMaster" Target="/ppt/notesMasters/notesMaster1.xml" Id="R39df24c9f55848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35 segundos.</a:t>
            </a:r>
          </a:p>
          <a:p xmlns:a="http://schemas.openxmlformats.org/drawingml/2006/main">
            <a:r>
              <a:t/>
            </a:r>
          </a:p>
          <a:p xmlns:a="http://schemas.openxmlformats.org/drawingml/2006/main">
            <a:r>
              <a:t>Presentación: ONO Prop reúne el circuito mensual del consorcio dentro de una sola plataforma. La demostración se concentra en el trabajo cotidiano del administrador y en la información que reciben propietarios y ocupantes.</a:t>
            </a:r>
          </a:p>
          <a:p xmlns:a="http://schemas.openxmlformats.org/drawingml/2006/main">
            <a:r>
              <a:t/>
            </a:r>
          </a:p>
          <a:p xmlns:a="http://schemas.openxmlformats.org/drawingml/2006/main">
            <a:r>
              <a:t>Fuente: https://onoprop.com/software-administracion-consorcios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50 segundos.</a:t>
            </a:r>
          </a:p>
          <a:p xmlns:a="http://schemas.openxmlformats.org/drawingml/2006/main">
            <a:r>
              <a:t/>
            </a:r>
          </a:p>
          <a:p xmlns:a="http://schemas.openxmlformats.org/drawingml/2006/main">
            <a:r>
              <a:t>Preguntar cómo trabajan hoy. Identificar cuántas planillas usan, cómo reciben comprobantes y dónde conservan los documentos. El objetivo de ONO Prop es conectar esas tareas y conservar el historial, sin quitarle decisiones al administrador.</a:t>
            </a:r>
          </a:p>
          <a:p xmlns:a="http://schemas.openxmlformats.org/drawingml/2006/main">
            <a:r>
              <a:t/>
            </a:r>
          </a:p>
          <a:p xmlns:a="http://schemas.openxmlformats.org/drawingml/2006/main">
            <a:r>
              <a:t>Fuente visual: https://onoprop.com/software-administracion-consorcios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55 segundos.</a:t>
            </a:r>
          </a:p>
          <a:p xmlns:a="http://schemas.openxmlformats.org/drawingml/2006/main">
            <a:r>
              <a:t/>
            </a:r>
          </a:p>
          <a:p xmlns:a="http://schemas.openxmlformats.org/drawingml/2006/main">
            <a:r>
              <a:t>Recorrer el mes como una secuencia. Primero se prepara la base, luego se liquida y se comunica. Los pagos actualizan las cuentas corrientes y el cierre conserva el respaldo. Mostrar que cada movimiento queda relacionado con su unidad y período.</a:t>
            </a:r>
          </a:p>
          <a:p xmlns:a="http://schemas.openxmlformats.org/drawingml/2006/main">
            <a:r>
              <a:t/>
            </a:r>
          </a:p>
          <a:p xmlns:a="http://schemas.openxmlformats.org/drawingml/2006/main">
            <a:r>
              <a:t>Fuente visual: https://onoprop.com/software-administracion-consorcios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50 segundos.</a:t>
            </a:r>
          </a:p>
          <a:p xmlns:a="http://schemas.openxmlformats.org/drawingml/2006/main">
            <a:r>
              <a:t/>
            </a:r>
          </a:p>
          <a:p xmlns:a="http://schemas.openxmlformats.org/drawingml/2006/main">
            <a:r>
              <a:t>Explicar la diferencia entre propietario y ocupante. El administrador elige qué bloques publica para cada rol. El portal centraliza la consulta, pero la administración conserva el control sobre comunicaciones, documentos y permisos.</a:t>
            </a:r>
          </a:p>
          <a:p xmlns:a="http://schemas.openxmlformats.org/drawingml/2006/main">
            <a:r>
              <a:t/>
            </a:r>
          </a:p>
          <a:p xmlns:a="http://schemas.openxmlformats.org/drawingml/2006/main">
            <a:r>
              <a:t>Fuente visual: https://onoprop.com/guias/administracion-consorcios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55 segundos.</a:t>
            </a:r>
          </a:p>
          <a:p xmlns:a="http://schemas.openxmlformats.org/drawingml/2006/main">
            <a:r>
              <a:t/>
            </a:r>
          </a:p>
          <a:p xmlns:a="http://schemas.openxmlformats.org/drawingml/2006/main">
            <a:r>
              <a:t>Aclarar que la demostración no tiene cargo. La solicitud del piloto tampoco activa pagos. Luego de relevar el consorcio, ONO Prop envía una propuesta para aceptación expresa. El importe mensual estimado surge de la cantidad de unidades y respeta el mínimo promocional.</a:t>
            </a:r>
          </a:p>
          <a:p xmlns:a="http://schemas.openxmlformats.org/drawingml/2006/main">
            <a:r>
              <a:t/>
            </a:r>
          </a:p>
          <a:p xmlns:a="http://schemas.openxmlformats.org/drawingml/2006/main">
            <a:r>
              <a:t>Fuente: https://onoprop.com/software-administracion-consorcios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35 segundos.</a:t>
            </a:r>
          </a:p>
          <a:p xmlns:a="http://schemas.openxmlformats.org/drawingml/2006/main">
            <a:r>
              <a:t/>
            </a:r>
          </a:p>
          <a:p xmlns:a="http://schemas.openxmlformats.org/drawingml/2006/main">
            <a:r>
              <a:t>Cierre: proponer una demostración breve con datos reales o un consorcio representativo. El siguiente paso consiste en relevar unidades, responsables y modalidad de liquidación para preparar la propuesta.</a:t>
            </a:r>
          </a:p>
          <a:p xmlns:a="http://schemas.openxmlformats.org/drawingml/2006/main">
            <a:r>
              <a:t/>
            </a:r>
          </a:p>
          <a:p xmlns:a="http://schemas.openxmlformats.org/drawingml/2006/main">
            <a:r>
              <a:t>Contacto: contacto@onoprop.com</a:t>
            </a:r>
          </a:p>
          <a:p xmlns:a="http://schemas.openxmlformats.org/drawingml/2006/main">
            <a:r>
              <a:t>Fuente: https://onoprop.com/software-administracion-consorcios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594a04b97944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866d82bdf749bf" /><Relationship Type="http://schemas.openxmlformats.org/officeDocument/2006/relationships/slideLayout" Target="/ppt/slideLayouts/slideLayout1.xml" Id="R63044acefccb4b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044acefccb4b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a58da9b10345d2" /><Relationship Type="http://schemas.openxmlformats.org/officeDocument/2006/relationships/image" Target="/ppt/media/image.png" Id="R819cd287a87347b0" /><Relationship Type="http://schemas.openxmlformats.org/officeDocument/2006/relationships/notesSlide" Target="/ppt/notesSlides/notesSlide1.xml" Id="Rd71696ac8f1241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5b90e991184810" /><Relationship Type="http://schemas.openxmlformats.org/officeDocument/2006/relationships/image" Target="/ppt/media/image2.png" Id="Reb599838624d4926" /><Relationship Type="http://schemas.openxmlformats.org/officeDocument/2006/relationships/image" Target="/ppt/media/image3.png" Id="Rcaeb3880edbb4d9c" /><Relationship Type="http://schemas.openxmlformats.org/officeDocument/2006/relationships/notesSlide" Target="/ppt/notesSlides/notesSlide2.xml" Id="Rc7d26108939d48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425474c20549ba" /><Relationship Type="http://schemas.openxmlformats.org/officeDocument/2006/relationships/image" Target="/ppt/media/image4.png" Id="R885552f9dddc4278" /><Relationship Type="http://schemas.openxmlformats.org/officeDocument/2006/relationships/image" Target="/ppt/media/image5.png" Id="R84662b5d15584c9a" /><Relationship Type="http://schemas.openxmlformats.org/officeDocument/2006/relationships/notesSlide" Target="/ppt/notesSlides/notesSlide3.xml" Id="R14546cdccefb4d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22389b29304ff4" /><Relationship Type="http://schemas.openxmlformats.org/officeDocument/2006/relationships/image" Target="/ppt/media/image6.png" Id="R5ccc4d46d7c24997" /><Relationship Type="http://schemas.openxmlformats.org/officeDocument/2006/relationships/image" Target="/ppt/media/image7.png" Id="R0bc9683e5b22454d" /><Relationship Type="http://schemas.openxmlformats.org/officeDocument/2006/relationships/notesSlide" Target="/ppt/notesSlides/notesSlide4.xml" Id="R0b2fef1dfcb34e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a53fecde434d30" /><Relationship Type="http://schemas.openxmlformats.org/officeDocument/2006/relationships/image" Target="/ppt/media/image8.png" Id="R3fe3430787c74df3" /><Relationship Type="http://schemas.openxmlformats.org/officeDocument/2006/relationships/image" Target="/ppt/media/image9.png" Id="R7f65b63affa544b8" /><Relationship Type="http://schemas.openxmlformats.org/officeDocument/2006/relationships/notesSlide" Target="/ppt/notesSlides/notesSlide5.xml" Id="Ree0d5dff25ca46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cfccf0da614acd" /><Relationship Type="http://schemas.openxmlformats.org/officeDocument/2006/relationships/image" Target="/ppt/media/image10.png" Id="R740662a8eccc4b50" /><Relationship Type="http://schemas.openxmlformats.org/officeDocument/2006/relationships/notesSlide" Target="/ppt/notesSlides/notesSlide6.xml" Id="Rc2e5214554bc4d2c" /></Relationships>
</file>

<file path=ppt/slides/slide1.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BCE822-ECFB-420B-BBE3-48750F5DF474}"/>
              </a:ext>
            </a:extLst>
          </p:cNvPr>
          <p:cNvSpPr>
            <a:spLocks xmlns:a="http://schemas.openxmlformats.org/drawingml/2006/main" noGrp="1"/>
          </p:cNvSpPr>
          <p:nvPr/>
        </p:nvSpPr>
        <p:spPr>
          <a:xfrm xmlns:a="http://schemas.openxmlformats.org/drawingml/2006/main">
            <a:off x="685800" y="10001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FFD37F"/>
                </a:solidFill>
                <a:latin typeface="Arial"/>
                <a:ea typeface="Arial"/>
                <a:cs typeface="Arial"/>
              </a:defRPr>
            </a:pPr>
            <a:r>
              <a:rPr sz="1650" b="1">
                <a:solidFill>
                  <a:srgbClr val="FFD37F"/>
                </a:solidFill>
                <a:latin typeface="Arial"/>
                <a:ea typeface="Arial"/>
                <a:cs typeface="Arial"/>
              </a:rPr>
              <a:t>ADMINISTRACIÓN DE CONSORCIOS</a:t>
            </a:r>
          </a:p>
        </p:txBody>
      </p:sp>
      <p:sp>
        <p:nvSpPr>
          <p:cNvPr id="2" name="">
            <a:extLst xmlns:a="http://schemas.openxmlformats.org/drawingml/2006/main">
              <a:ext uri="{FF2B5EF4-FFF2-40B4-BE49-F238E27FC236}">
                <a16:creationId xmlns:a16="http://schemas.microsoft.com/office/drawing/2014/main" id="{73A2254C-1B3E-4136-B8FC-620CCFF3999A}"/>
              </a:ext>
            </a:extLst>
          </p:cNvPr>
          <p:cNvSpPr>
            <a:spLocks xmlns:a="http://schemas.openxmlformats.org/drawingml/2006/main" noGrp="1"/>
          </p:cNvSpPr>
          <p:nvPr/>
        </p:nvSpPr>
        <p:spPr>
          <a:xfrm xmlns:a="http://schemas.openxmlformats.org/drawingml/2006/main">
            <a:off x="685800" y="1619250"/>
            <a:ext cx="5619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900" b="1">
                <a:solidFill>
                  <a:srgbClr val="F7FBFD"/>
                </a:solidFill>
                <a:latin typeface="Arial"/>
                <a:ea typeface="Arial"/>
                <a:cs typeface="Arial"/>
              </a:defRPr>
            </a:pPr>
            <a:r>
              <a:rPr sz="3900" b="1">
                <a:solidFill>
                  <a:srgbClr val="F7FBFD"/>
                </a:solidFill>
                <a:latin typeface="Arial"/>
                <a:ea typeface="Arial"/>
                <a:cs typeface="Arial"/>
              </a:rPr>
              <a:t>La gestión mensual</a:t>
            </a:r>
          </a:p>
          <a:p xmlns:a="http://schemas.openxmlformats.org/drawingml/2006/main">
            <a:pPr algn="l">
              <a:defRPr sz="3900" b="1">
                <a:solidFill>
                  <a:srgbClr val="F7FBFD"/>
                </a:solidFill>
                <a:latin typeface="Arial"/>
                <a:ea typeface="Arial"/>
                <a:cs typeface="Arial"/>
              </a:defRPr>
            </a:pPr>
            <a:r>
              <a:rPr sz="3900" b="1">
                <a:solidFill>
                  <a:srgbClr val="F7FBFD"/>
                </a:solidFill>
                <a:latin typeface="Arial"/>
                <a:ea typeface="Arial"/>
                <a:cs typeface="Arial"/>
              </a:rPr>
              <a:t>en un solo circuito</a:t>
            </a:r>
          </a:p>
        </p:txBody>
      </p:sp>
      <p:sp>
        <p:nvSpPr>
          <p:cNvPr id="3" name="">
            <a:extLst xmlns:a="http://schemas.openxmlformats.org/drawingml/2006/main">
              <a:ext uri="{FF2B5EF4-FFF2-40B4-BE49-F238E27FC236}">
                <a16:creationId xmlns:a16="http://schemas.microsoft.com/office/drawing/2014/main" id="{48580A20-579E-4C5F-A0F0-D2BC87D0C985}"/>
              </a:ext>
            </a:extLst>
          </p:cNvPr>
          <p:cNvSpPr>
            <a:spLocks xmlns:a="http://schemas.openxmlformats.org/drawingml/2006/main" noGrp="1"/>
          </p:cNvSpPr>
          <p:nvPr/>
        </p:nvSpPr>
        <p:spPr>
          <a:xfrm xmlns:a="http://schemas.openxmlformats.org/drawingml/2006/main">
            <a:off x="685800" y="347662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0">
                <a:solidFill>
                  <a:srgbClr val="64E1D2"/>
                </a:solidFill>
                <a:latin typeface="Arial"/>
                <a:ea typeface="Arial"/>
                <a:cs typeface="Arial"/>
              </a:defRPr>
            </a:pPr>
            <a:r>
              <a:rPr sz="2025" b="0">
                <a:solidFill>
                  <a:srgbClr val="64E1D2"/>
                </a:solidFill>
                <a:latin typeface="Arial"/>
                <a:ea typeface="Arial"/>
                <a:cs typeface="Arial"/>
              </a:rPr>
              <a:t>Demostración comercial</a:t>
            </a:r>
          </a:p>
          <a:p xmlns:a="http://schemas.openxmlformats.org/drawingml/2006/main">
            <a:pPr algn="l">
              <a:defRPr sz="2025" b="0">
                <a:solidFill>
                  <a:srgbClr val="64E1D2"/>
                </a:solidFill>
                <a:latin typeface="Arial"/>
                <a:ea typeface="Arial"/>
                <a:cs typeface="Arial"/>
              </a:defRPr>
            </a:pPr>
            <a:r>
              <a:rPr sz="2025" b="0">
                <a:solidFill>
                  <a:srgbClr val="64E1D2"/>
                </a:solidFill>
                <a:latin typeface="Arial"/>
                <a:ea typeface="Arial"/>
                <a:cs typeface="Arial"/>
              </a:rPr>
              <a:t>Piloto acompañado de 30 días</a:t>
            </a:r>
          </a:p>
        </p:txBody>
      </p:sp>
      <p:sp>
        <p:nvSpPr>
          <p:cNvPr id="4" name="">
            <a:extLst xmlns:a="http://schemas.openxmlformats.org/drawingml/2006/main">
              <a:ext uri="{FF2B5EF4-FFF2-40B4-BE49-F238E27FC236}">
                <a16:creationId xmlns:a16="http://schemas.microsoft.com/office/drawing/2014/main" id="{BEA5F1AC-984E-4783-84A7-FCF9F743481E}"/>
              </a:ext>
            </a:extLst>
          </p:cNvPr>
          <p:cNvSpPr>
            <a:spLocks xmlns:a="http://schemas.openxmlformats.org/drawingml/2006/main" noGrp="1"/>
          </p:cNvSpPr>
          <p:nvPr/>
        </p:nvSpPr>
        <p:spPr>
          <a:xfrm xmlns:a="http://schemas.openxmlformats.org/drawingml/2006/main">
            <a:off x="685800" y="58102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C8DCE3"/>
                </a:solidFill>
                <a:latin typeface="Arial"/>
                <a:ea typeface="Arial"/>
                <a:cs typeface="Arial"/>
              </a:defRPr>
            </a:pPr>
            <a:r>
              <a:rPr sz="1875" b="1">
                <a:solidFill>
                  <a:srgbClr val="C8DCE3"/>
                </a:solidFill>
                <a:latin typeface="Arial"/>
                <a:ea typeface="Arial"/>
                <a:cs typeface="Arial"/>
              </a:rPr>
              <a:t>ONO Prop</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19cd287a87347b0"/>
          <a:stretch xmlns:a="http://schemas.openxmlformats.org/drawingml/2006/main"/>
        </p:blipFill>
        <p:spPr>
          <a:xfrm xmlns:a="http://schemas.openxmlformats.org/drawingml/2006/main">
            <a:off x="6858000" y="452438"/>
            <a:ext cx="4762500" cy="5953125"/>
          </a:xfrm>
          <a:prstGeom xmlns:a="http://schemas.openxmlformats.org/drawingml/2006/main" prst="rect">
            <a:avLst/>
          </a:prstGeom>
        </p:spPr>
      </p:pic>
    </p:spTree>
    <p:extLst>
      <p:ext uri="{BB962C8B-B14F-4D97-AF65-F5344CB8AC3E}">
        <p14:creationId xmlns:p14="http://schemas.microsoft.com/office/powerpoint/2010/main" val="622341100"/>
      </p:ext>
    </p:extLst>
  </p:cSld>
</p:sld>
</file>

<file path=ppt/slides/slide2.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b599838624d4926"/>
          <a:stretch xmlns:a="http://schemas.openxmlformats.org/drawingml/2006/main"/>
        </p:blipFill>
        <p:spPr>
          <a:xfrm xmlns:a="http://schemas.openxmlformats.org/drawingml/2006/main">
            <a:off x="809297" y="342900"/>
            <a:ext cx="1905657" cy="685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961BCE-7CFA-4246-AC4A-C0BF58470C1F}"/>
              </a:ext>
            </a:extLst>
          </p:cNvPr>
          <p:cNvSpPr>
            <a:spLocks xmlns:a="http://schemas.openxmlformats.org/drawingml/2006/main" noGrp="1"/>
          </p:cNvSpPr>
          <p:nvPr/>
        </p:nvSpPr>
        <p:spPr>
          <a:xfrm xmlns:a="http://schemas.openxmlformats.org/drawingml/2006/main">
            <a:off x="8477250" y="50482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r">
              <a:defRPr sz="1350" b="1">
                <a:solidFill>
                  <a:srgbClr val="C8DCE3"/>
                </a:solidFill>
                <a:latin typeface="Arial"/>
                <a:ea typeface="Arial"/>
                <a:cs typeface="Arial"/>
              </a:defRPr>
            </a:pPr>
            <a:r>
              <a:rPr sz="1350" b="1">
                <a:solidFill>
                  <a:srgbClr val="C8DCE3"/>
                </a:solidFill>
                <a:latin typeface="Arial"/>
                <a:ea typeface="Arial"/>
                <a:cs typeface="Arial"/>
              </a:rPr>
              <a:t>ADMINISTRACIÓN DE CONSORCIOS</a:t>
            </a:r>
          </a:p>
        </p:txBody>
      </p:sp>
      <p:sp>
        <p:nvSpPr>
          <p:cNvPr id="3" name="">
            <a:extLst xmlns:a="http://schemas.openxmlformats.org/drawingml/2006/main">
              <a:ext uri="{FF2B5EF4-FFF2-40B4-BE49-F238E27FC236}">
                <a16:creationId xmlns:a16="http://schemas.microsoft.com/office/drawing/2014/main" id="{D9A964A4-7FD2-4BD9-A879-DA23F3945373}"/>
              </a:ext>
            </a:extLst>
          </p:cNvPr>
          <p:cNvSpPr>
            <a:spLocks xmlns:a="http://schemas.openxmlformats.org/drawingml/2006/main" noGrp="1"/>
          </p:cNvSpPr>
          <p:nvPr/>
        </p:nvSpPr>
        <p:spPr>
          <a:xfrm xmlns:a="http://schemas.openxmlformats.org/drawingml/2006/main">
            <a:off x="666750" y="12192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1">
                <a:solidFill>
                  <a:srgbClr val="F7FBFD"/>
                </a:solidFill>
                <a:latin typeface="Arial"/>
                <a:ea typeface="Arial"/>
                <a:cs typeface="Arial"/>
              </a:defRPr>
            </a:pPr>
            <a:r>
              <a:rPr sz="2925" b="1">
                <a:solidFill>
                  <a:srgbClr val="F7FBFD"/>
                </a:solidFill>
                <a:latin typeface="Arial"/>
                <a:ea typeface="Arial"/>
                <a:cs typeface="Arial"/>
              </a:rPr>
              <a:t>La información se dispersa antes de cerrar el mes</a:t>
            </a:r>
          </a:p>
        </p:txBody>
      </p:sp>
      <p:sp>
        <p:nvSpPr>
          <p:cNvPr id="4" name="">
            <a:extLst xmlns:a="http://schemas.openxmlformats.org/drawingml/2006/main">
              <a:ext uri="{FF2B5EF4-FFF2-40B4-BE49-F238E27FC236}">
                <a16:creationId xmlns:a16="http://schemas.microsoft.com/office/drawing/2014/main" id="{DD5B75CD-86F9-42C8-8BB5-70339DF43A97}"/>
              </a:ext>
            </a:extLst>
          </p:cNvPr>
          <p:cNvSpPr>
            <a:spLocks xmlns:a="http://schemas.openxmlformats.org/drawingml/2006/main" noGrp="1"/>
          </p:cNvSpPr>
          <p:nvPr/>
        </p:nvSpPr>
        <p:spPr>
          <a:xfrm xmlns:a="http://schemas.openxmlformats.org/drawingml/2006/main">
            <a:off x="666750" y="24098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70"/>
          </a:bodyPr>
          <a:lstStyle xmlns:a="http://schemas.openxmlformats.org/drawingml/2006/main"/>
          <a:p xmlns:a="http://schemas.openxmlformats.org/drawingml/2006/main">
            <a:pPr algn="l">
              <a:defRPr sz="1875" b="0">
                <a:solidFill>
                  <a:srgbClr val="C8DCE3"/>
                </a:solidFill>
                <a:latin typeface="Arial"/>
                <a:ea typeface="Arial"/>
                <a:cs typeface="Arial"/>
              </a:defRPr>
            </a:pPr>
            <a:r>
              <a:rPr sz="1875" b="0">
                <a:solidFill>
                  <a:srgbClr val="C8DCE3"/>
                </a:solidFill>
                <a:latin typeface="Arial"/>
                <a:ea typeface="Arial"/>
                <a:cs typeface="Arial"/>
              </a:rPr>
              <a:t>Cuando pagos, comprobantes, consultas y documentos viven en herramientas separadas, el seguimiento depende de tareas manuales.</a:t>
            </a:r>
          </a:p>
        </p:txBody>
      </p:sp>
      <p:sp>
        <p:nvSpPr>
          <p:cNvPr id="5" name="">
            <a:extLst xmlns:a="http://schemas.openxmlformats.org/drawingml/2006/main">
              <a:ext uri="{FF2B5EF4-FFF2-40B4-BE49-F238E27FC236}">
                <a16:creationId xmlns:a16="http://schemas.microsoft.com/office/drawing/2014/main" id="{DB268DA7-D245-4840-8220-D88FE3E71C4E}"/>
              </a:ext>
            </a:extLst>
          </p:cNvPr>
          <p:cNvSpPr>
            <a:spLocks xmlns:a="http://schemas.openxmlformats.org/drawingml/2006/main" noGrp="1"/>
          </p:cNvSpPr>
          <p:nvPr/>
        </p:nvSpPr>
        <p:spPr>
          <a:xfrm xmlns:a="http://schemas.openxmlformats.org/drawingml/2006/main">
            <a:off x="666750" y="3667125"/>
            <a:ext cx="4953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F7FBFD"/>
                </a:solidFill>
                <a:latin typeface="Arial"/>
                <a:ea typeface="Arial"/>
                <a:cs typeface="Arial"/>
              </a:defRPr>
            </a:pPr>
            <a:r>
              <a:rPr sz="1650" b="1">
                <a:solidFill>
                  <a:srgbClr val="F7FBFD"/>
                </a:solidFill>
                <a:latin typeface="Arial"/>
                <a:ea typeface="Arial"/>
                <a:cs typeface="Arial"/>
              </a:rPr>
              <a:t>Qué se cobró y qué falta</a:t>
            </a:r>
          </a:p>
          <a:p xmlns:a="http://schemas.openxmlformats.org/drawingml/2006/main">
            <a:r>
              <a:t/>
            </a:r>
          </a:p>
          <a:p xmlns:a="http://schemas.openxmlformats.org/drawingml/2006/main">
            <a:pPr algn="l">
              <a:defRPr sz="1650" b="1">
                <a:solidFill>
                  <a:srgbClr val="F7FBFD"/>
                </a:solidFill>
                <a:latin typeface="Arial"/>
                <a:ea typeface="Arial"/>
                <a:cs typeface="Arial"/>
              </a:defRPr>
            </a:pPr>
            <a:r>
              <a:rPr sz="1650" b="1">
                <a:solidFill>
                  <a:srgbClr val="F7FBFD"/>
                </a:solidFill>
                <a:latin typeface="Arial"/>
                <a:ea typeface="Arial"/>
                <a:cs typeface="Arial"/>
              </a:rPr>
              <a:t>Qué documento respalda cada gasto</a:t>
            </a:r>
          </a:p>
          <a:p xmlns:a="http://schemas.openxmlformats.org/drawingml/2006/main">
            <a:r>
              <a:t/>
            </a:r>
          </a:p>
          <a:p xmlns:a="http://schemas.openxmlformats.org/drawingml/2006/main">
            <a:pPr algn="l">
              <a:defRPr sz="1650" b="1">
                <a:solidFill>
                  <a:srgbClr val="F7FBFD"/>
                </a:solidFill>
                <a:latin typeface="Arial"/>
                <a:ea typeface="Arial"/>
                <a:cs typeface="Arial"/>
              </a:defRPr>
            </a:pPr>
            <a:r>
              <a:rPr sz="1650" b="1">
                <a:solidFill>
                  <a:srgbClr val="F7FBFD"/>
                </a:solidFill>
                <a:latin typeface="Arial"/>
                <a:ea typeface="Arial"/>
                <a:cs typeface="Arial"/>
              </a:rPr>
              <a:t>Qué puede consultar cada consorcista</a:t>
            </a:r>
          </a:p>
          <a:p xmlns:a="http://schemas.openxmlformats.org/drawingml/2006/main">
            <a:r>
              <a:t/>
            </a:r>
          </a:p>
          <a:p xmlns:a="http://schemas.openxmlformats.org/drawingml/2006/main">
            <a:pPr algn="l">
              <a:defRPr sz="1650" b="1">
                <a:solidFill>
                  <a:srgbClr val="F7FBFD"/>
                </a:solidFill>
                <a:latin typeface="Arial"/>
                <a:ea typeface="Arial"/>
                <a:cs typeface="Arial"/>
              </a:defRPr>
            </a:pPr>
            <a:r>
              <a:rPr sz="1650" b="1">
                <a:solidFill>
                  <a:srgbClr val="F7FBFD"/>
                </a:solidFill>
                <a:latin typeface="Arial"/>
                <a:ea typeface="Arial"/>
                <a:cs typeface="Arial"/>
              </a:rPr>
              <a:t>Qué decidió la administración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aeb3880edbb4d9c"/>
          <a:srcRect xmlns:a="http://schemas.openxmlformats.org/drawingml/2006/main" l="12766" t="0" r="12766" b="0"/>
          <a:stretch xmlns:a="http://schemas.openxmlformats.org/drawingml/2006/main">
            <a:fillRect l="0" t="0" r="0" b="0"/>
          </a:stretch>
        </p:blipFill>
        <p:spPr>
          <a:xfrm xmlns:a="http://schemas.openxmlformats.org/drawingml/2006/main">
            <a:off x="6191250" y="1219200"/>
            <a:ext cx="5334000" cy="4476750"/>
          </a:xfrm>
          <a:prstGeom xmlns:a="http://schemas.openxmlformats.org/drawingml/2006/main" prst="roundRect">
            <a:avLst>
              <a:gd name="adj" fmla="val 4255"/>
            </a:avLst>
          </a:prstGeom>
        </p:spPr>
      </p:pic>
      <p:sp>
        <p:nvSpPr>
          <p:cNvPr id="7" name="">
            <a:extLst xmlns:a="http://schemas.openxmlformats.org/drawingml/2006/main">
              <a:ext uri="{FF2B5EF4-FFF2-40B4-BE49-F238E27FC236}">
                <a16:creationId xmlns:a16="http://schemas.microsoft.com/office/drawing/2014/main" id="{44A0B949-FFA3-4BAA-9CDA-F2B5B431F5DD}"/>
              </a:ext>
            </a:extLst>
          </p:cNvPr>
          <p:cNvSpPr>
            <a:spLocks xmlns:a="http://schemas.openxmlformats.org/drawingml/2006/main" noGrp="1"/>
          </p:cNvSpPr>
          <p:nvPr/>
        </p:nvSpPr>
        <p:spPr>
          <a:xfrm xmlns:a="http://schemas.openxmlformats.org/drawingml/2006/main">
            <a:off x="10763250" y="64389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r">
              <a:defRPr sz="975" b="0">
                <a:solidFill>
                  <a:srgbClr val="C8DCE3"/>
                </a:solidFill>
                <a:latin typeface="Arial"/>
                <a:ea typeface="Arial"/>
                <a:cs typeface="Arial"/>
              </a:defRPr>
            </a:pPr>
            <a:r>
              <a:rPr sz="975" b="0">
                <a:solidFill>
                  <a:srgbClr val="C8DCE3"/>
                </a:solidFill>
                <a:latin typeface="Arial"/>
                <a:ea typeface="Arial"/>
                <a:cs typeface="Arial"/>
              </a:rPr>
              <a:t>2 / 6</a:t>
            </a:r>
          </a:p>
        </p:txBody>
      </p:sp>
    </p:spTree>
    <p:extLst>
      <p:ext uri="{BB962C8B-B14F-4D97-AF65-F5344CB8AC3E}">
        <p14:creationId xmlns:p14="http://schemas.microsoft.com/office/powerpoint/2010/main" val="1351585681"/>
      </p:ext>
    </p:extLst>
  </p:cSld>
</p:sld>
</file>

<file path=ppt/slides/slide3.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85552f9dddc4278"/>
          <a:stretch xmlns:a="http://schemas.openxmlformats.org/drawingml/2006/main"/>
        </p:blipFill>
        <p:spPr>
          <a:xfrm xmlns:a="http://schemas.openxmlformats.org/drawingml/2006/main">
            <a:off x="809297" y="342900"/>
            <a:ext cx="1905657" cy="685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4CD095-E3B9-4A03-B219-F3E29190E159}"/>
              </a:ext>
            </a:extLst>
          </p:cNvPr>
          <p:cNvSpPr>
            <a:spLocks xmlns:a="http://schemas.openxmlformats.org/drawingml/2006/main" noGrp="1"/>
          </p:cNvSpPr>
          <p:nvPr/>
        </p:nvSpPr>
        <p:spPr>
          <a:xfrm xmlns:a="http://schemas.openxmlformats.org/drawingml/2006/main">
            <a:off x="8477250" y="50482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r">
              <a:defRPr sz="1350" b="1">
                <a:solidFill>
                  <a:srgbClr val="C8DCE3"/>
                </a:solidFill>
                <a:latin typeface="Arial"/>
                <a:ea typeface="Arial"/>
                <a:cs typeface="Arial"/>
              </a:defRPr>
            </a:pPr>
            <a:r>
              <a:rPr sz="1350" b="1">
                <a:solidFill>
                  <a:srgbClr val="C8DCE3"/>
                </a:solidFill>
                <a:latin typeface="Arial"/>
                <a:ea typeface="Arial"/>
                <a:cs typeface="Arial"/>
              </a:rPr>
              <a:t>ADMINISTRACIÓN DE CONSORCIOS</a:t>
            </a:r>
          </a:p>
        </p:txBody>
      </p:sp>
      <p:sp>
        <p:nvSpPr>
          <p:cNvPr id="3" name="">
            <a:extLst xmlns:a="http://schemas.openxmlformats.org/drawingml/2006/main">
              <a:ext uri="{FF2B5EF4-FFF2-40B4-BE49-F238E27FC236}">
                <a16:creationId xmlns:a16="http://schemas.microsoft.com/office/drawing/2014/main" id="{F39CA758-5A84-4AEF-B846-BF8CE18BB2D2}"/>
              </a:ext>
            </a:extLst>
          </p:cNvPr>
          <p:cNvSpPr>
            <a:spLocks xmlns:a="http://schemas.openxmlformats.org/drawingml/2006/main" noGrp="1"/>
          </p:cNvSpPr>
          <p:nvPr/>
        </p:nvSpPr>
        <p:spPr>
          <a:xfrm xmlns:a="http://schemas.openxmlformats.org/drawingml/2006/main">
            <a:off x="666750" y="121920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396"/>
          </a:bodyPr>
          <a:lstStyle xmlns:a="http://schemas.openxmlformats.org/drawingml/2006/main"/>
          <a:p xmlns:a="http://schemas.openxmlformats.org/drawingml/2006/main">
            <a:pPr algn="l">
              <a:defRPr sz="2925" b="1">
                <a:solidFill>
                  <a:srgbClr val="F7FBFD"/>
                </a:solidFill>
                <a:latin typeface="Arial"/>
                <a:ea typeface="Arial"/>
                <a:cs typeface="Arial"/>
              </a:defRPr>
            </a:pPr>
            <a:r>
              <a:rPr sz="2925" b="1">
                <a:solidFill>
                  <a:srgbClr val="F7FBFD"/>
                </a:solidFill>
                <a:latin typeface="Arial"/>
                <a:ea typeface="Arial"/>
                <a:cs typeface="Arial"/>
              </a:rPr>
              <a:t>Un circuito une la liquidación con la cuenta corriente</a:t>
            </a:r>
          </a:p>
        </p:txBody>
      </p:sp>
      <p:sp>
        <p:nvSpPr>
          <p:cNvPr id="4" name="">
            <a:extLst xmlns:a="http://schemas.openxmlformats.org/drawingml/2006/main">
              <a:ext uri="{FF2B5EF4-FFF2-40B4-BE49-F238E27FC236}">
                <a16:creationId xmlns:a16="http://schemas.microsoft.com/office/drawing/2014/main" id="{6F7B8A15-05D3-4632-8680-40BC1F8F1E8A}"/>
              </a:ext>
            </a:extLst>
          </p:cNvPr>
          <p:cNvSpPr>
            <a:spLocks xmlns:a="http://schemas.openxmlformats.org/drawingml/2006/main" noGrp="1"/>
          </p:cNvSpPr>
          <p:nvPr/>
        </p:nvSpPr>
        <p:spPr>
          <a:xfrm xmlns:a="http://schemas.openxmlformats.org/drawingml/2006/main">
            <a:off x="666750" y="2476500"/>
            <a:ext cx="4857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C8DCE3"/>
                </a:solidFill>
                <a:latin typeface="Arial"/>
                <a:ea typeface="Arial"/>
                <a:cs typeface="Arial"/>
              </a:defRPr>
            </a:pPr>
            <a:r>
              <a:rPr sz="1725" b="1">
                <a:solidFill>
                  <a:srgbClr val="C8DCE3"/>
                </a:solidFill>
                <a:latin typeface="Arial"/>
                <a:ea typeface="Arial"/>
                <a:cs typeface="Arial"/>
              </a:rPr>
              <a:t>PREPARAR</a:t>
            </a:r>
          </a:p>
          <a:p xmlns:a="http://schemas.openxmlformats.org/drawingml/2006/main">
            <a:pPr algn="l">
              <a:defRPr sz="1725" b="1">
                <a:solidFill>
                  <a:srgbClr val="C8DCE3"/>
                </a:solidFill>
                <a:latin typeface="Arial"/>
                <a:ea typeface="Arial"/>
                <a:cs typeface="Arial"/>
              </a:defRPr>
            </a:pPr>
            <a:r>
              <a:rPr sz="1725" b="1">
                <a:solidFill>
                  <a:srgbClr val="C8DCE3"/>
                </a:solidFill>
                <a:latin typeface="Arial"/>
                <a:ea typeface="Arial"/>
                <a:cs typeface="Arial"/>
              </a:rPr>
              <a:t>Unidades, cuentas, proveedores y comprobantes</a:t>
            </a:r>
          </a:p>
          <a:p xmlns:a="http://schemas.openxmlformats.org/drawingml/2006/main">
            <a:r>
              <a:t/>
            </a:r>
          </a:p>
          <a:p xmlns:a="http://schemas.openxmlformats.org/drawingml/2006/main">
            <a:pPr algn="l">
              <a:defRPr sz="1725" b="1">
                <a:solidFill>
                  <a:srgbClr val="C8DCE3"/>
                </a:solidFill>
                <a:latin typeface="Arial"/>
                <a:ea typeface="Arial"/>
                <a:cs typeface="Arial"/>
              </a:defRPr>
            </a:pPr>
            <a:r>
              <a:rPr sz="1725" b="1">
                <a:solidFill>
                  <a:srgbClr val="C8DCE3"/>
                </a:solidFill>
                <a:latin typeface="Arial"/>
                <a:ea typeface="Arial"/>
                <a:cs typeface="Arial"/>
              </a:rPr>
              <a:t>LIQUIDAR</a:t>
            </a:r>
          </a:p>
          <a:p xmlns:a="http://schemas.openxmlformats.org/drawingml/2006/main">
            <a:pPr algn="l">
              <a:defRPr sz="1725" b="1">
                <a:solidFill>
                  <a:srgbClr val="C8DCE3"/>
                </a:solidFill>
                <a:latin typeface="Arial"/>
                <a:ea typeface="Arial"/>
                <a:cs typeface="Arial"/>
              </a:defRPr>
            </a:pPr>
            <a:r>
              <a:rPr sz="1725" b="1">
                <a:solidFill>
                  <a:srgbClr val="C8DCE3"/>
                </a:solidFill>
                <a:latin typeface="Arial"/>
                <a:ea typeface="Arial"/>
                <a:cs typeface="Arial"/>
              </a:rPr>
              <a:t>Gastos, distribución e intereses</a:t>
            </a:r>
          </a:p>
          <a:p xmlns:a="http://schemas.openxmlformats.org/drawingml/2006/main">
            <a:r>
              <a:t/>
            </a:r>
          </a:p>
          <a:p xmlns:a="http://schemas.openxmlformats.org/drawingml/2006/main">
            <a:pPr algn="l">
              <a:defRPr sz="1725" b="1">
                <a:solidFill>
                  <a:srgbClr val="C8DCE3"/>
                </a:solidFill>
                <a:latin typeface="Arial"/>
                <a:ea typeface="Arial"/>
                <a:cs typeface="Arial"/>
              </a:defRPr>
            </a:pPr>
            <a:r>
              <a:rPr sz="1725" b="1">
                <a:solidFill>
                  <a:srgbClr val="C8DCE3"/>
                </a:solidFill>
                <a:latin typeface="Arial"/>
                <a:ea typeface="Arial"/>
                <a:cs typeface="Arial"/>
              </a:rPr>
              <a:t>COBRAR Y CERRAR</a:t>
            </a:r>
          </a:p>
          <a:p xmlns:a="http://schemas.openxmlformats.org/drawingml/2006/main">
            <a:pPr algn="l">
              <a:defRPr sz="1725" b="1">
                <a:solidFill>
                  <a:srgbClr val="C8DCE3"/>
                </a:solidFill>
                <a:latin typeface="Arial"/>
                <a:ea typeface="Arial"/>
                <a:cs typeface="Arial"/>
              </a:defRPr>
            </a:pPr>
            <a:r>
              <a:rPr sz="1725" b="1">
                <a:solidFill>
                  <a:srgbClr val="C8DCE3"/>
                </a:solidFill>
                <a:latin typeface="Arial"/>
                <a:ea typeface="Arial"/>
                <a:cs typeface="Arial"/>
              </a:rPr>
              <a:t>Pagos, recibos, conciliación y archivo</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4662b5d15584c9a"/>
          <a:srcRect xmlns:a="http://schemas.openxmlformats.org/drawingml/2006/main" l="12766" t="0" r="12766" b="0"/>
          <a:stretch xmlns:a="http://schemas.openxmlformats.org/drawingml/2006/main">
            <a:fillRect l="0" t="0" r="0" b="0"/>
          </a:stretch>
        </p:blipFill>
        <p:spPr>
          <a:xfrm xmlns:a="http://schemas.openxmlformats.org/drawingml/2006/main">
            <a:off x="6191250" y="1219200"/>
            <a:ext cx="5334000" cy="4476750"/>
          </a:xfrm>
          <a:prstGeom xmlns:a="http://schemas.openxmlformats.org/drawingml/2006/main" prst="roundRect">
            <a:avLst>
              <a:gd name="adj" fmla="val 4255"/>
            </a:avLst>
          </a:prstGeom>
        </p:spPr>
      </p:pic>
      <p:sp>
        <p:nvSpPr>
          <p:cNvPr id="6" name="">
            <a:extLst xmlns:a="http://schemas.openxmlformats.org/drawingml/2006/main">
              <a:ext uri="{FF2B5EF4-FFF2-40B4-BE49-F238E27FC236}">
                <a16:creationId xmlns:a16="http://schemas.microsoft.com/office/drawing/2014/main" id="{548F4AFE-32E1-4331-8C28-2136FE123451}"/>
              </a:ext>
            </a:extLst>
          </p:cNvPr>
          <p:cNvSpPr>
            <a:spLocks xmlns:a="http://schemas.openxmlformats.org/drawingml/2006/main" noGrp="1"/>
          </p:cNvSpPr>
          <p:nvPr/>
        </p:nvSpPr>
        <p:spPr>
          <a:xfrm xmlns:a="http://schemas.openxmlformats.org/drawingml/2006/main">
            <a:off x="10763250" y="64389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r">
              <a:defRPr sz="975" b="0">
                <a:solidFill>
                  <a:srgbClr val="C8DCE3"/>
                </a:solidFill>
                <a:latin typeface="Arial"/>
                <a:ea typeface="Arial"/>
                <a:cs typeface="Arial"/>
              </a:defRPr>
            </a:pPr>
            <a:r>
              <a:rPr sz="975" b="0">
                <a:solidFill>
                  <a:srgbClr val="C8DCE3"/>
                </a:solidFill>
                <a:latin typeface="Arial"/>
                <a:ea typeface="Arial"/>
                <a:cs typeface="Arial"/>
              </a:rPr>
              <a:t>3 / 6</a:t>
            </a:r>
          </a:p>
        </p:txBody>
      </p:sp>
    </p:spTree>
    <p:extLst>
      <p:ext uri="{BB962C8B-B14F-4D97-AF65-F5344CB8AC3E}">
        <p14:creationId xmlns:p14="http://schemas.microsoft.com/office/powerpoint/2010/main" val="1010084754"/>
      </p:ext>
    </p:extLst>
  </p:cSld>
</p:sld>
</file>

<file path=ppt/slides/slide4.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ccc4d46d7c24997"/>
          <a:stretch xmlns:a="http://schemas.openxmlformats.org/drawingml/2006/main"/>
        </p:blipFill>
        <p:spPr>
          <a:xfrm xmlns:a="http://schemas.openxmlformats.org/drawingml/2006/main">
            <a:off x="809297" y="342900"/>
            <a:ext cx="1905657" cy="685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257AFC-B68C-4725-A943-EF9228BCA734}"/>
              </a:ext>
            </a:extLst>
          </p:cNvPr>
          <p:cNvSpPr>
            <a:spLocks xmlns:a="http://schemas.openxmlformats.org/drawingml/2006/main" noGrp="1"/>
          </p:cNvSpPr>
          <p:nvPr/>
        </p:nvSpPr>
        <p:spPr>
          <a:xfrm xmlns:a="http://schemas.openxmlformats.org/drawingml/2006/main">
            <a:off x="8477250" y="50482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r">
              <a:defRPr sz="1350" b="1">
                <a:solidFill>
                  <a:srgbClr val="C8DCE3"/>
                </a:solidFill>
                <a:latin typeface="Arial"/>
                <a:ea typeface="Arial"/>
                <a:cs typeface="Arial"/>
              </a:defRPr>
            </a:pPr>
            <a:r>
              <a:rPr sz="1350" b="1">
                <a:solidFill>
                  <a:srgbClr val="C8DCE3"/>
                </a:solidFill>
                <a:latin typeface="Arial"/>
                <a:ea typeface="Arial"/>
                <a:cs typeface="Arial"/>
              </a:rPr>
              <a:t>ADMINISTRACIÓN DE CONSORCIOS</a:t>
            </a:r>
          </a:p>
        </p:txBody>
      </p:sp>
      <p:sp>
        <p:nvSpPr>
          <p:cNvPr id="3" name="">
            <a:extLst xmlns:a="http://schemas.openxmlformats.org/drawingml/2006/main">
              <a:ext uri="{FF2B5EF4-FFF2-40B4-BE49-F238E27FC236}">
                <a16:creationId xmlns:a16="http://schemas.microsoft.com/office/drawing/2014/main" id="{50B2EB48-AC46-4D38-8CB5-BCCE1E8A4499}"/>
              </a:ext>
            </a:extLst>
          </p:cNvPr>
          <p:cNvSpPr>
            <a:spLocks xmlns:a="http://schemas.openxmlformats.org/drawingml/2006/main" noGrp="1"/>
          </p:cNvSpPr>
          <p:nvPr/>
        </p:nvSpPr>
        <p:spPr>
          <a:xfrm xmlns:a="http://schemas.openxmlformats.org/drawingml/2006/main">
            <a:off x="666750" y="121920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82"/>
          </a:bodyPr>
          <a:lstStyle xmlns:a="http://schemas.openxmlformats.org/drawingml/2006/main"/>
          <a:p xmlns:a="http://schemas.openxmlformats.org/drawingml/2006/main">
            <a:pPr algn="l">
              <a:defRPr sz="3150" b="1">
                <a:solidFill>
                  <a:srgbClr val="F7FBFD"/>
                </a:solidFill>
                <a:latin typeface="Arial"/>
                <a:ea typeface="Arial"/>
                <a:cs typeface="Arial"/>
              </a:defRPr>
            </a:pPr>
            <a:r>
              <a:rPr sz="3150" b="1">
                <a:solidFill>
                  <a:srgbClr val="F7FBFD"/>
                </a:solidFill>
                <a:latin typeface="Arial"/>
                <a:ea typeface="Arial"/>
                <a:cs typeface="Arial"/>
              </a:rPr>
              <a:t>El portal reduce consultas repetidas</a:t>
            </a:r>
          </a:p>
        </p:txBody>
      </p:sp>
      <p:sp>
        <p:nvSpPr>
          <p:cNvPr id="4" name="">
            <a:extLst xmlns:a="http://schemas.openxmlformats.org/drawingml/2006/main">
              <a:ext uri="{FF2B5EF4-FFF2-40B4-BE49-F238E27FC236}">
                <a16:creationId xmlns:a16="http://schemas.microsoft.com/office/drawing/2014/main" id="{07B5C23B-E51A-46B2-BDB6-3F4E9AAB9B09}"/>
              </a:ext>
            </a:extLst>
          </p:cNvPr>
          <p:cNvSpPr>
            <a:spLocks xmlns:a="http://schemas.openxmlformats.org/drawingml/2006/main" noGrp="1"/>
          </p:cNvSpPr>
          <p:nvPr/>
        </p:nvSpPr>
        <p:spPr>
          <a:xfrm xmlns:a="http://schemas.openxmlformats.org/drawingml/2006/main">
            <a:off x="666750" y="2333625"/>
            <a:ext cx="5000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C8DCE3"/>
                </a:solidFill>
                <a:latin typeface="Arial"/>
                <a:ea typeface="Arial"/>
                <a:cs typeface="Arial"/>
              </a:defRPr>
            </a:pPr>
            <a:r>
              <a:rPr sz="1875" b="0">
                <a:solidFill>
                  <a:srgbClr val="C8DCE3"/>
                </a:solidFill>
                <a:latin typeface="Arial"/>
                <a:ea typeface="Arial"/>
                <a:cs typeface="Arial"/>
              </a:rPr>
              <a:t>Propietarios y ocupantes ingresan con los permisos definidos por la administración.</a:t>
            </a:r>
          </a:p>
        </p:txBody>
      </p:sp>
      <p:sp>
        <p:nvSpPr>
          <p:cNvPr id="5" name="">
            <a:extLst xmlns:a="http://schemas.openxmlformats.org/drawingml/2006/main">
              <a:ext uri="{FF2B5EF4-FFF2-40B4-BE49-F238E27FC236}">
                <a16:creationId xmlns:a16="http://schemas.microsoft.com/office/drawing/2014/main" id="{03D27033-2C10-4AD7-99FB-81F8EF5DAA63}"/>
              </a:ext>
            </a:extLst>
          </p:cNvPr>
          <p:cNvSpPr>
            <a:spLocks xmlns:a="http://schemas.openxmlformats.org/drawingml/2006/main" noGrp="1"/>
          </p:cNvSpPr>
          <p:nvPr/>
        </p:nvSpPr>
        <p:spPr>
          <a:xfrm xmlns:a="http://schemas.openxmlformats.org/drawingml/2006/main">
            <a:off x="666750" y="3429000"/>
            <a:ext cx="4857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F7FBFD"/>
                </a:solidFill>
                <a:latin typeface="Arial"/>
                <a:ea typeface="Arial"/>
                <a:cs typeface="Arial"/>
              </a:defRPr>
            </a:pPr>
            <a:r>
              <a:rPr sz="1725" b="1">
                <a:solidFill>
                  <a:srgbClr val="F7FBFD"/>
                </a:solidFill>
                <a:latin typeface="Arial"/>
                <a:ea typeface="Arial"/>
                <a:cs typeface="Arial"/>
              </a:rPr>
              <a:t>Estado de cuenta y pagos informados</a:t>
            </a:r>
          </a:p>
          <a:p xmlns:a="http://schemas.openxmlformats.org/drawingml/2006/main">
            <a:r>
              <a:t/>
            </a:r>
          </a:p>
          <a:p xmlns:a="http://schemas.openxmlformats.org/drawingml/2006/main">
            <a:pPr algn="l">
              <a:defRPr sz="1725" b="1">
                <a:solidFill>
                  <a:srgbClr val="F7FBFD"/>
                </a:solidFill>
                <a:latin typeface="Arial"/>
                <a:ea typeface="Arial"/>
                <a:cs typeface="Arial"/>
              </a:defRPr>
            </a:pPr>
            <a:r>
              <a:rPr sz="1725" b="1">
                <a:solidFill>
                  <a:srgbClr val="F7FBFD"/>
                </a:solidFill>
                <a:latin typeface="Arial"/>
                <a:ea typeface="Arial"/>
                <a:cs typeface="Arial"/>
              </a:rPr>
              <a:t>Mensajes a la administración</a:t>
            </a:r>
          </a:p>
          <a:p xmlns:a="http://schemas.openxmlformats.org/drawingml/2006/main">
            <a:r>
              <a:t/>
            </a:r>
          </a:p>
          <a:p xmlns:a="http://schemas.openxmlformats.org/drawingml/2006/main">
            <a:pPr algn="l">
              <a:defRPr sz="1725" b="1">
                <a:solidFill>
                  <a:srgbClr val="F7FBFD"/>
                </a:solidFill>
                <a:latin typeface="Arial"/>
                <a:ea typeface="Arial"/>
                <a:cs typeface="Arial"/>
              </a:defRPr>
            </a:pPr>
            <a:r>
              <a:rPr sz="1725" b="1">
                <a:solidFill>
                  <a:srgbClr val="F7FBFD"/>
                </a:solidFill>
                <a:latin typeface="Arial"/>
                <a:ea typeface="Arial"/>
                <a:cs typeface="Arial"/>
              </a:rPr>
              <a:t>Pólizas, reglamentos y actas</a:t>
            </a:r>
          </a:p>
          <a:p xmlns:a="http://schemas.openxmlformats.org/drawingml/2006/main">
            <a:r>
              <a:t/>
            </a:r>
          </a:p>
          <a:p xmlns:a="http://schemas.openxmlformats.org/drawingml/2006/main">
            <a:pPr algn="l">
              <a:defRPr sz="1725" b="1">
                <a:solidFill>
                  <a:srgbClr val="F7FBFD"/>
                </a:solidFill>
                <a:latin typeface="Arial"/>
                <a:ea typeface="Arial"/>
                <a:cs typeface="Arial"/>
              </a:defRPr>
            </a:pPr>
            <a:r>
              <a:rPr sz="1725" b="1">
                <a:solidFill>
                  <a:srgbClr val="F7FBFD"/>
                </a:solidFill>
                <a:latin typeface="Arial"/>
                <a:ea typeface="Arial"/>
                <a:cs typeface="Arial"/>
              </a:rPr>
              <a:t>Emergencias e información del edificio</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bc9683e5b22454d"/>
          <a:srcRect xmlns:a="http://schemas.openxmlformats.org/drawingml/2006/main" l="12766" t="0" r="12766" b="0"/>
          <a:stretch xmlns:a="http://schemas.openxmlformats.org/drawingml/2006/main">
            <a:fillRect l="0" t="0" r="0" b="0"/>
          </a:stretch>
        </p:blipFill>
        <p:spPr>
          <a:xfrm xmlns:a="http://schemas.openxmlformats.org/drawingml/2006/main">
            <a:off x="6191250" y="1219200"/>
            <a:ext cx="5334000" cy="4476750"/>
          </a:xfrm>
          <a:prstGeom xmlns:a="http://schemas.openxmlformats.org/drawingml/2006/main" prst="roundRect">
            <a:avLst>
              <a:gd name="adj" fmla="val 4255"/>
            </a:avLst>
          </a:prstGeom>
        </p:spPr>
      </p:pic>
      <p:sp>
        <p:nvSpPr>
          <p:cNvPr id="7" name="">
            <a:extLst xmlns:a="http://schemas.openxmlformats.org/drawingml/2006/main">
              <a:ext uri="{FF2B5EF4-FFF2-40B4-BE49-F238E27FC236}">
                <a16:creationId xmlns:a16="http://schemas.microsoft.com/office/drawing/2014/main" id="{5D94D262-7021-4EB5-AD5F-AC5DD8C4A49D}"/>
              </a:ext>
            </a:extLst>
          </p:cNvPr>
          <p:cNvSpPr>
            <a:spLocks xmlns:a="http://schemas.openxmlformats.org/drawingml/2006/main" noGrp="1"/>
          </p:cNvSpPr>
          <p:nvPr/>
        </p:nvSpPr>
        <p:spPr>
          <a:xfrm xmlns:a="http://schemas.openxmlformats.org/drawingml/2006/main">
            <a:off x="10763250" y="64389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r">
              <a:defRPr sz="975" b="0">
                <a:solidFill>
                  <a:srgbClr val="C8DCE3"/>
                </a:solidFill>
                <a:latin typeface="Arial"/>
                <a:ea typeface="Arial"/>
                <a:cs typeface="Arial"/>
              </a:defRPr>
            </a:pPr>
            <a:r>
              <a:rPr sz="975" b="0">
                <a:solidFill>
                  <a:srgbClr val="C8DCE3"/>
                </a:solidFill>
                <a:latin typeface="Arial"/>
                <a:ea typeface="Arial"/>
                <a:cs typeface="Arial"/>
              </a:rPr>
              <a:t>4 / 6</a:t>
            </a:r>
          </a:p>
        </p:txBody>
      </p:sp>
    </p:spTree>
    <p:extLst>
      <p:ext uri="{BB962C8B-B14F-4D97-AF65-F5344CB8AC3E}">
        <p14:creationId xmlns:p14="http://schemas.microsoft.com/office/powerpoint/2010/main" val="1426463602"/>
      </p:ext>
    </p:extLst>
  </p:cSld>
</p:sld>
</file>

<file path=ppt/slides/slide5.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fe3430787c74df3"/>
          <a:stretch xmlns:a="http://schemas.openxmlformats.org/drawingml/2006/main"/>
        </p:blipFill>
        <p:spPr>
          <a:xfrm xmlns:a="http://schemas.openxmlformats.org/drawingml/2006/main">
            <a:off x="809297" y="342900"/>
            <a:ext cx="1905657" cy="685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A4DE6D-6E86-449B-B061-A0C468ECFFFB}"/>
              </a:ext>
            </a:extLst>
          </p:cNvPr>
          <p:cNvSpPr>
            <a:spLocks xmlns:a="http://schemas.openxmlformats.org/drawingml/2006/main" noGrp="1"/>
          </p:cNvSpPr>
          <p:nvPr/>
        </p:nvSpPr>
        <p:spPr>
          <a:xfrm xmlns:a="http://schemas.openxmlformats.org/drawingml/2006/main">
            <a:off x="8477250" y="50482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r">
              <a:defRPr sz="1350" b="1">
                <a:solidFill>
                  <a:srgbClr val="C8DCE3"/>
                </a:solidFill>
                <a:latin typeface="Arial"/>
                <a:ea typeface="Arial"/>
                <a:cs typeface="Arial"/>
              </a:defRPr>
            </a:pPr>
            <a:r>
              <a:rPr sz="1350" b="1">
                <a:solidFill>
                  <a:srgbClr val="C8DCE3"/>
                </a:solidFill>
                <a:latin typeface="Arial"/>
                <a:ea typeface="Arial"/>
                <a:cs typeface="Arial"/>
              </a:rPr>
              <a:t>ADMINISTRACIÓN DE CONSORCIOS</a:t>
            </a:r>
          </a:p>
        </p:txBody>
      </p:sp>
      <p:sp>
        <p:nvSpPr>
          <p:cNvPr id="3" name="">
            <a:extLst xmlns:a="http://schemas.openxmlformats.org/drawingml/2006/main">
              <a:ext uri="{FF2B5EF4-FFF2-40B4-BE49-F238E27FC236}">
                <a16:creationId xmlns:a16="http://schemas.microsoft.com/office/drawing/2014/main" id="{66DFFC83-6112-40AC-AAC8-3344D3B284E4}"/>
              </a:ext>
            </a:extLst>
          </p:cNvPr>
          <p:cNvSpPr>
            <a:spLocks xmlns:a="http://schemas.openxmlformats.org/drawingml/2006/main" noGrp="1"/>
          </p:cNvSpPr>
          <p:nvPr/>
        </p:nvSpPr>
        <p:spPr>
          <a:xfrm xmlns:a="http://schemas.openxmlformats.org/drawingml/2006/main">
            <a:off x="666750" y="1219200"/>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383"/>
          </a:bodyPr>
          <a:lstStyle xmlns:a="http://schemas.openxmlformats.org/drawingml/2006/main"/>
          <a:p xmlns:a="http://schemas.openxmlformats.org/drawingml/2006/main">
            <a:pPr algn="l">
              <a:defRPr sz="3300" b="1">
                <a:solidFill>
                  <a:srgbClr val="F7FBFD"/>
                </a:solidFill>
                <a:latin typeface="Arial"/>
                <a:ea typeface="Arial"/>
                <a:cs typeface="Arial"/>
              </a:defRPr>
            </a:pPr>
            <a:r>
              <a:rPr sz="3300" b="1">
                <a:solidFill>
                  <a:srgbClr val="F7FBFD"/>
                </a:solidFill>
                <a:latin typeface="Arial"/>
                <a:ea typeface="Arial"/>
                <a:cs typeface="Arial"/>
              </a:rPr>
              <a:t>Piloto comercial de 30 días</a:t>
            </a:r>
          </a:p>
        </p:txBody>
      </p:sp>
      <p:sp>
        <p:nvSpPr>
          <p:cNvPr id="4" name="">
            <a:extLst xmlns:a="http://schemas.openxmlformats.org/drawingml/2006/main">
              <a:ext uri="{FF2B5EF4-FFF2-40B4-BE49-F238E27FC236}">
                <a16:creationId xmlns:a16="http://schemas.microsoft.com/office/drawing/2014/main" id="{54C631A2-E723-498B-91DA-AAF6DF18760B}"/>
              </a:ext>
            </a:extLst>
          </p:cNvPr>
          <p:cNvSpPr>
            <a:spLocks xmlns:a="http://schemas.openxmlformats.org/drawingml/2006/main" noGrp="1"/>
          </p:cNvSpPr>
          <p:nvPr/>
        </p:nvSpPr>
        <p:spPr>
          <a:xfrm xmlns:a="http://schemas.openxmlformats.org/drawingml/2006/main">
            <a:off x="666750" y="223837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950" b="1">
                <a:solidFill>
                  <a:srgbClr val="64E1D2"/>
                </a:solidFill>
                <a:latin typeface="Arial"/>
                <a:ea typeface="Arial"/>
                <a:cs typeface="Arial"/>
              </a:defRPr>
            </a:pPr>
            <a:r>
              <a:rPr sz="4950" b="1">
                <a:solidFill>
                  <a:srgbClr val="64E1D2"/>
                </a:solidFill>
                <a:latin typeface="Arial"/>
                <a:ea typeface="Arial"/>
                <a:cs typeface="Arial"/>
              </a:rPr>
              <a:t>$1.000</a:t>
            </a:r>
          </a:p>
        </p:txBody>
      </p:sp>
      <p:sp>
        <p:nvSpPr>
          <p:cNvPr id="5" name="">
            <a:extLst xmlns:a="http://schemas.openxmlformats.org/drawingml/2006/main">
              <a:ext uri="{FF2B5EF4-FFF2-40B4-BE49-F238E27FC236}">
                <a16:creationId xmlns:a16="http://schemas.microsoft.com/office/drawing/2014/main" id="{79024F4A-3535-48B9-A5E3-1E23A7795D78}"/>
              </a:ext>
            </a:extLst>
          </p:cNvPr>
          <p:cNvSpPr>
            <a:spLocks xmlns:a="http://schemas.openxmlformats.org/drawingml/2006/main" noGrp="1"/>
          </p:cNvSpPr>
          <p:nvPr/>
        </p:nvSpPr>
        <p:spPr>
          <a:xfrm xmlns:a="http://schemas.openxmlformats.org/drawingml/2006/main">
            <a:off x="666750" y="309562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F7FBFD"/>
                </a:solidFill>
                <a:latin typeface="Arial"/>
                <a:ea typeface="Arial"/>
                <a:cs typeface="Arial"/>
              </a:defRPr>
            </a:pPr>
            <a:r>
              <a:rPr sz="1875" b="1">
                <a:solidFill>
                  <a:srgbClr val="F7FBFD"/>
                </a:solidFill>
                <a:latin typeface="Arial"/>
                <a:ea typeface="Arial"/>
                <a:cs typeface="Arial"/>
              </a:rPr>
              <a:t>por unidad funcional por mes</a:t>
            </a:r>
          </a:p>
        </p:txBody>
      </p:sp>
      <p:sp>
        <p:nvSpPr>
          <p:cNvPr id="6" name="">
            <a:extLst xmlns:a="http://schemas.openxmlformats.org/drawingml/2006/main">
              <a:ext uri="{FF2B5EF4-FFF2-40B4-BE49-F238E27FC236}">
                <a16:creationId xmlns:a16="http://schemas.microsoft.com/office/drawing/2014/main" id="{65F6D35D-9955-4402-BE20-2FA71C05AC17}"/>
              </a:ext>
            </a:extLst>
          </p:cNvPr>
          <p:cNvSpPr>
            <a:spLocks xmlns:a="http://schemas.openxmlformats.org/drawingml/2006/main" noGrp="1"/>
          </p:cNvSpPr>
          <p:nvPr/>
        </p:nvSpPr>
        <p:spPr>
          <a:xfrm xmlns:a="http://schemas.openxmlformats.org/drawingml/2006/main">
            <a:off x="666750" y="37338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lgn="l">
              <a:defRPr sz="2100" b="1">
                <a:solidFill>
                  <a:srgbClr val="FFD37F"/>
                </a:solidFill>
                <a:latin typeface="Arial"/>
                <a:ea typeface="Arial"/>
                <a:cs typeface="Arial"/>
              </a:defRPr>
            </a:pPr>
            <a:r>
              <a:rPr sz="2100" b="1">
                <a:solidFill>
                  <a:srgbClr val="FFD37F"/>
                </a:solidFill>
                <a:latin typeface="Arial"/>
                <a:ea typeface="Arial"/>
                <a:cs typeface="Arial"/>
              </a:rPr>
              <a:t>Mínimo mensual: $20.000</a:t>
            </a:r>
          </a:p>
        </p:txBody>
      </p:sp>
      <p:sp>
        <p:nvSpPr>
          <p:cNvPr id="7" name="">
            <a:extLst xmlns:a="http://schemas.openxmlformats.org/drawingml/2006/main">
              <a:ext uri="{FF2B5EF4-FFF2-40B4-BE49-F238E27FC236}">
                <a16:creationId xmlns:a16="http://schemas.microsoft.com/office/drawing/2014/main" id="{F3528D35-38C8-4DED-B985-612EF700E2D6}"/>
              </a:ext>
            </a:extLst>
          </p:cNvPr>
          <p:cNvSpPr>
            <a:spLocks xmlns:a="http://schemas.openxmlformats.org/drawingml/2006/main" noGrp="1"/>
          </p:cNvSpPr>
          <p:nvPr/>
        </p:nvSpPr>
        <p:spPr>
          <a:xfrm xmlns:a="http://schemas.openxmlformats.org/drawingml/2006/main">
            <a:off x="666750" y="44577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77"/>
          </a:bodyPr>
          <a:lstStyle xmlns:a="http://schemas.openxmlformats.org/drawingml/2006/main"/>
          <a:p xmlns:a="http://schemas.openxmlformats.org/drawingml/2006/main">
            <a:pPr algn="l">
              <a:defRPr sz="1500" b="0">
                <a:solidFill>
                  <a:srgbClr val="C8DCE3"/>
                </a:solidFill>
                <a:latin typeface="Arial"/>
                <a:ea typeface="Arial"/>
                <a:cs typeface="Arial"/>
              </a:defRPr>
            </a:pPr>
            <a:r>
              <a:rPr sz="1500" b="0">
                <a:solidFill>
                  <a:srgbClr val="C8DCE3"/>
                </a:solidFill>
                <a:latin typeface="Arial"/>
                <a:ea typeface="Arial"/>
                <a:cs typeface="Arial"/>
              </a:rPr>
              <a:t>Demostración inicial gratuita</a:t>
            </a:r>
          </a:p>
          <a:p xmlns:a="http://schemas.openxmlformats.org/drawingml/2006/main">
            <a:r>
              <a:t/>
            </a:r>
          </a:p>
          <a:p xmlns:a="http://schemas.openxmlformats.org/drawingml/2006/main">
            <a:pPr algn="l">
              <a:defRPr sz="1500" b="0">
                <a:solidFill>
                  <a:srgbClr val="C8DCE3"/>
                </a:solidFill>
                <a:latin typeface="Arial"/>
                <a:ea typeface="Arial"/>
                <a:cs typeface="Arial"/>
              </a:defRPr>
            </a:pPr>
            <a:r>
              <a:rPr sz="1500" b="0">
                <a:solidFill>
                  <a:srgbClr val="C8DCE3"/>
                </a:solidFill>
                <a:latin typeface="Arial"/>
                <a:ea typeface="Arial"/>
                <a:cs typeface="Arial"/>
              </a:rPr>
              <a:t>Sin cargos automáticos</a:t>
            </a:r>
          </a:p>
          <a:p xmlns:a="http://schemas.openxmlformats.org/drawingml/2006/main">
            <a:r>
              <a:t/>
            </a:r>
          </a:p>
          <a:p xmlns:a="http://schemas.openxmlformats.org/drawingml/2006/main">
            <a:pPr algn="l">
              <a:defRPr sz="1500" b="0">
                <a:solidFill>
                  <a:srgbClr val="C8DCE3"/>
                </a:solidFill>
                <a:latin typeface="Arial"/>
                <a:ea typeface="Arial"/>
                <a:cs typeface="Arial"/>
              </a:defRPr>
            </a:pPr>
            <a:r>
              <a:rPr sz="1500" b="0">
                <a:solidFill>
                  <a:srgbClr val="C8DCE3"/>
                </a:solidFill>
                <a:latin typeface="Arial"/>
                <a:ea typeface="Arial"/>
                <a:cs typeface="Arial"/>
              </a:rPr>
              <a:t>Primeros tres clientes: alta bonificada y precio promocional durante seis meses, sujeto a disponibilidad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f65b63affa544b8"/>
          <a:srcRect xmlns:a="http://schemas.openxmlformats.org/drawingml/2006/main" l="12766" t="0" r="12766" b="0"/>
          <a:stretch xmlns:a="http://schemas.openxmlformats.org/drawingml/2006/main">
            <a:fillRect l="0" t="0" r="0" b="0"/>
          </a:stretch>
        </p:blipFill>
        <p:spPr>
          <a:xfrm xmlns:a="http://schemas.openxmlformats.org/drawingml/2006/main">
            <a:off x="6191250" y="1219200"/>
            <a:ext cx="5334000" cy="4476750"/>
          </a:xfrm>
          <a:prstGeom xmlns:a="http://schemas.openxmlformats.org/drawingml/2006/main" prst="roundRect">
            <a:avLst>
              <a:gd name="adj" fmla="val 4255"/>
            </a:avLst>
          </a:prstGeom>
        </p:spPr>
      </p:pic>
      <p:sp>
        <p:nvSpPr>
          <p:cNvPr id="9" name="">
            <a:extLst xmlns:a="http://schemas.openxmlformats.org/drawingml/2006/main">
              <a:ext uri="{FF2B5EF4-FFF2-40B4-BE49-F238E27FC236}">
                <a16:creationId xmlns:a16="http://schemas.microsoft.com/office/drawing/2014/main" id="{BB58829C-9E3B-4F3B-8CBE-2CB9BEAACBD6}"/>
              </a:ext>
            </a:extLst>
          </p:cNvPr>
          <p:cNvSpPr>
            <a:spLocks xmlns:a="http://schemas.openxmlformats.org/drawingml/2006/main" noGrp="1"/>
          </p:cNvSpPr>
          <p:nvPr/>
        </p:nvSpPr>
        <p:spPr>
          <a:xfrm xmlns:a="http://schemas.openxmlformats.org/drawingml/2006/main">
            <a:off x="10763250" y="64389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r">
              <a:defRPr sz="975" b="0">
                <a:solidFill>
                  <a:srgbClr val="C8DCE3"/>
                </a:solidFill>
                <a:latin typeface="Arial"/>
                <a:ea typeface="Arial"/>
                <a:cs typeface="Arial"/>
              </a:defRPr>
            </a:pPr>
            <a:r>
              <a:rPr sz="975" b="0">
                <a:solidFill>
                  <a:srgbClr val="C8DCE3"/>
                </a:solidFill>
                <a:latin typeface="Arial"/>
                <a:ea typeface="Arial"/>
                <a:cs typeface="Arial"/>
              </a:rPr>
              <a:t>5 / 6</a:t>
            </a:r>
          </a:p>
        </p:txBody>
      </p:sp>
    </p:spTree>
    <p:extLst>
      <p:ext uri="{BB962C8B-B14F-4D97-AF65-F5344CB8AC3E}">
        <p14:creationId xmlns:p14="http://schemas.microsoft.com/office/powerpoint/2010/main" val="1723203614"/>
      </p:ext>
    </p:extLst>
  </p:cSld>
</p:sld>
</file>

<file path=ppt/slides/slide6.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607D23-4AA5-43A8-95B4-F5D119EB1DA4}"/>
              </a:ext>
            </a:extLst>
          </p:cNvPr>
          <p:cNvSpPr>
            <a:spLocks xmlns:a="http://schemas.openxmlformats.org/drawingml/2006/main" noGrp="1"/>
          </p:cNvSpPr>
          <p:nvPr/>
        </p:nvSpPr>
        <p:spPr>
          <a:xfrm xmlns:a="http://schemas.openxmlformats.org/drawingml/2006/main">
            <a:off x="685800" y="10477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FFD37F"/>
                </a:solidFill>
                <a:latin typeface="Arial"/>
                <a:ea typeface="Arial"/>
                <a:cs typeface="Arial"/>
              </a:defRPr>
            </a:pPr>
            <a:r>
              <a:rPr sz="1650" b="1">
                <a:solidFill>
                  <a:srgbClr val="FFD37F"/>
                </a:solidFill>
                <a:latin typeface="Arial"/>
                <a:ea typeface="Arial"/>
                <a:cs typeface="Arial"/>
              </a:rPr>
              <a:t>PRÓXIMO PASO</a:t>
            </a:r>
          </a:p>
        </p:txBody>
      </p:sp>
      <p:sp>
        <p:nvSpPr>
          <p:cNvPr id="2" name="">
            <a:extLst xmlns:a="http://schemas.openxmlformats.org/drawingml/2006/main">
              <a:ext uri="{FF2B5EF4-FFF2-40B4-BE49-F238E27FC236}">
                <a16:creationId xmlns:a16="http://schemas.microsoft.com/office/drawing/2014/main" id="{8F06035A-0B62-4454-A966-F1FB2726E99C}"/>
              </a:ext>
            </a:extLst>
          </p:cNvPr>
          <p:cNvSpPr>
            <a:spLocks xmlns:a="http://schemas.openxmlformats.org/drawingml/2006/main" noGrp="1"/>
          </p:cNvSpPr>
          <p:nvPr/>
        </p:nvSpPr>
        <p:spPr>
          <a:xfrm xmlns:a="http://schemas.openxmlformats.org/drawingml/2006/main">
            <a:off x="685800" y="1666875"/>
            <a:ext cx="5619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675" b="1">
                <a:solidFill>
                  <a:srgbClr val="F7FBFD"/>
                </a:solidFill>
                <a:latin typeface="Arial"/>
                <a:ea typeface="Arial"/>
                <a:cs typeface="Arial"/>
              </a:defRPr>
            </a:pPr>
            <a:r>
              <a:rPr sz="3675" b="1">
                <a:solidFill>
                  <a:srgbClr val="F7FBFD"/>
                </a:solidFill>
                <a:latin typeface="Arial"/>
                <a:ea typeface="Arial"/>
                <a:cs typeface="Arial"/>
              </a:rPr>
              <a:t>Una demostración</a:t>
            </a:r>
          </a:p>
          <a:p xmlns:a="http://schemas.openxmlformats.org/drawingml/2006/main">
            <a:pPr algn="l">
              <a:defRPr sz="3675" b="1">
                <a:solidFill>
                  <a:srgbClr val="F7FBFD"/>
                </a:solidFill>
                <a:latin typeface="Arial"/>
                <a:ea typeface="Arial"/>
                <a:cs typeface="Arial"/>
              </a:defRPr>
            </a:pPr>
            <a:r>
              <a:rPr sz="3675" b="1">
                <a:solidFill>
                  <a:srgbClr val="F7FBFD"/>
                </a:solidFill>
                <a:latin typeface="Arial"/>
                <a:ea typeface="Arial"/>
                <a:cs typeface="Arial"/>
              </a:rPr>
              <a:t>con un consorcio real</a:t>
            </a:r>
          </a:p>
        </p:txBody>
      </p:sp>
      <p:sp>
        <p:nvSpPr>
          <p:cNvPr id="3" name="">
            <a:extLst xmlns:a="http://schemas.openxmlformats.org/drawingml/2006/main">
              <a:ext uri="{FF2B5EF4-FFF2-40B4-BE49-F238E27FC236}">
                <a16:creationId xmlns:a16="http://schemas.microsoft.com/office/drawing/2014/main" id="{EA61C288-B885-4AFE-B890-F47FD5ABDED1}"/>
              </a:ext>
            </a:extLst>
          </p:cNvPr>
          <p:cNvSpPr>
            <a:spLocks xmlns:a="http://schemas.openxmlformats.org/drawingml/2006/main" noGrp="1"/>
          </p:cNvSpPr>
          <p:nvPr/>
        </p:nvSpPr>
        <p:spPr>
          <a:xfrm xmlns:a="http://schemas.openxmlformats.org/drawingml/2006/main">
            <a:off x="685800" y="3476625"/>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950" b="0">
                <a:solidFill>
                  <a:srgbClr val="C8DCE3"/>
                </a:solidFill>
                <a:latin typeface="Arial"/>
                <a:ea typeface="Arial"/>
                <a:cs typeface="Arial"/>
              </a:defRPr>
            </a:pPr>
            <a:r>
              <a:rPr sz="1950" b="0">
                <a:solidFill>
                  <a:srgbClr val="C8DCE3"/>
                </a:solidFill>
                <a:latin typeface="Arial"/>
                <a:ea typeface="Arial"/>
                <a:cs typeface="Arial"/>
              </a:rPr>
              <a:t>Revisamos el circuito actual, estimamos la configuración y definimos juntos el alcance del piloto.</a:t>
            </a:r>
          </a:p>
        </p:txBody>
      </p:sp>
      <p:sp>
        <p:nvSpPr>
          <p:cNvPr id="4" name="">
            <a:extLst xmlns:a="http://schemas.openxmlformats.org/drawingml/2006/main">
              <a:ext uri="{FF2B5EF4-FFF2-40B4-BE49-F238E27FC236}">
                <a16:creationId xmlns:a16="http://schemas.microsoft.com/office/drawing/2014/main" id="{26FE2A2D-F4C9-49A5-A3A4-01F796A7E06B}"/>
              </a:ext>
            </a:extLst>
          </p:cNvPr>
          <p:cNvSpPr>
            <a:spLocks xmlns:a="http://schemas.openxmlformats.org/drawingml/2006/main" noGrp="1"/>
          </p:cNvSpPr>
          <p:nvPr/>
        </p:nvSpPr>
        <p:spPr>
          <a:xfrm xmlns:a="http://schemas.openxmlformats.org/drawingml/2006/main">
            <a:off x="685800" y="5095875"/>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64E1D2"/>
                </a:solidFill>
                <a:latin typeface="Arial"/>
                <a:ea typeface="Arial"/>
                <a:cs typeface="Arial"/>
              </a:defRPr>
            </a:pPr>
            <a:r>
              <a:rPr sz="1650" b="1">
                <a:solidFill>
                  <a:srgbClr val="64E1D2"/>
                </a:solidFill>
                <a:latin typeface="Arial"/>
                <a:ea typeface="Arial"/>
                <a:cs typeface="Arial"/>
              </a:rPr>
              <a:t>onoprop.com/software-administracion-consorcios</a:t>
            </a:r>
          </a:p>
          <a:p xmlns:a="http://schemas.openxmlformats.org/drawingml/2006/main">
            <a:pPr algn="l">
              <a:defRPr sz="1650" b="1">
                <a:solidFill>
                  <a:srgbClr val="64E1D2"/>
                </a:solidFill>
                <a:latin typeface="Arial"/>
                <a:ea typeface="Arial"/>
                <a:cs typeface="Arial"/>
              </a:defRPr>
            </a:pPr>
            <a:r>
              <a:rPr sz="1650" b="1">
                <a:solidFill>
                  <a:srgbClr val="64E1D2"/>
                </a:solidFill>
                <a:latin typeface="Arial"/>
                <a:ea typeface="Arial"/>
                <a:cs typeface="Arial"/>
              </a:rPr>
              <a:t>contacto@onoprop.com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40662a8eccc4b50"/>
          <a:stretch xmlns:a="http://schemas.openxmlformats.org/drawingml/2006/main"/>
        </p:blipFill>
        <p:spPr>
          <a:xfrm xmlns:a="http://schemas.openxmlformats.org/drawingml/2006/main">
            <a:off x="7450336" y="333375"/>
            <a:ext cx="3482578" cy="619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1D074CD-29AD-45A1-A2F0-71730EE25FEE}"/>
              </a:ext>
            </a:extLst>
          </p:cNvPr>
          <p:cNvSpPr>
            <a:spLocks xmlns:a="http://schemas.openxmlformats.org/drawingml/2006/main" noGrp="1"/>
          </p:cNvSpPr>
          <p:nvPr/>
        </p:nvSpPr>
        <p:spPr>
          <a:xfrm xmlns:a="http://schemas.openxmlformats.org/drawingml/2006/main">
            <a:off x="10763250" y="64389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r">
              <a:defRPr sz="975" b="0">
                <a:solidFill>
                  <a:srgbClr val="C8DCE3"/>
                </a:solidFill>
                <a:latin typeface="Arial"/>
                <a:ea typeface="Arial"/>
                <a:cs typeface="Arial"/>
              </a:defRPr>
            </a:pPr>
            <a:r>
              <a:rPr sz="975" b="0">
                <a:solidFill>
                  <a:srgbClr val="C8DCE3"/>
                </a:solidFill>
                <a:latin typeface="Arial"/>
                <a:ea typeface="Arial"/>
                <a:cs typeface="Arial"/>
              </a:rPr>
              <a:t>6 / 6</a:t>
            </a:r>
          </a:p>
        </p:txBody>
      </p:sp>
    </p:spTree>
    <p:extLst>
      <p:ext uri="{BB962C8B-B14F-4D97-AF65-F5344CB8AC3E}">
        <p14:creationId xmlns:p14="http://schemas.microsoft.com/office/powerpoint/2010/main" val="20042313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2026-09-24T11:47:20.5490000Z</dcterms:created>
  <dcterms:modified xsi:type="dcterms:W3CDTF">2026-09-24T11:47:20.5500000Z</dcterms:modified>
</coreProperties>
</file>